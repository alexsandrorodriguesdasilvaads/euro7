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6858000" cx="12192000"/>
  <p:notesSz cx="6858000" cy="9144000"/>
  <p:embeddedFontLst>
    <p:embeddedFont>
      <p:font typeface="Plus Jakarta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2BCE32-0481-4BB9-BE36-7958EF8BE1B0}">
  <a:tblStyle styleId="{2C2BCE32-0481-4BB9-BE36-7958EF8BE1B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1F1F1F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B4C4972-7BCF-4566-8FF1-6315AE087F8A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PlusJakartaSans-bold.fntdata"/><Relationship Id="rId12" Type="http://schemas.openxmlformats.org/officeDocument/2006/relationships/slide" Target="slides/slide6.xml"/><Relationship Id="rId34" Type="http://schemas.openxmlformats.org/officeDocument/2006/relationships/font" Target="fonts/PlusJakartaSans-regular.fntdata"/><Relationship Id="rId15" Type="http://schemas.openxmlformats.org/officeDocument/2006/relationships/slide" Target="slides/slide9.xml"/><Relationship Id="rId37" Type="http://schemas.openxmlformats.org/officeDocument/2006/relationships/font" Target="fonts/PlusJakartaSans-boldItalic.fntdata"/><Relationship Id="rId14" Type="http://schemas.openxmlformats.org/officeDocument/2006/relationships/slide" Target="slides/slide8.xml"/><Relationship Id="rId36" Type="http://schemas.openxmlformats.org/officeDocument/2006/relationships/font" Target="fonts/PlusJakartaSans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3976e4440cd442e_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h3976e4440cd442e_9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72032ac0a146f3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h72032ac0a146f3a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3976e4440cd442e_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h3976e4440cd442e_9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3bf673dfcec410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h3bf673dfcec4106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h51194ff9ff3aa05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h51194ff9ff3aa050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h51194ff9ff3aa05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h51194ff9ff3aa050_0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51194ff9ff3aa05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h51194ff9ff3aa050_0_1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51194ff9ff3aa05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h51194ff9ff3aa050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72032ac0a146f3a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h72032ac0a146f3a5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72032ac0a146f3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h72032ac0a146f3a5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h51194ff9ff3aa050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h51194ff9ff3aa050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h3976e4440cd442e_9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h3976e4440cd442e_9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h3976e4440cd442e_9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h3976e4440cd442e_9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h3976e4440cd442e_9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h3976e4440cd442e_9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h72032ac0a146f3a5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h72032ac0a146f3a5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762000" y="4530923"/>
            <a:ext cx="1143000" cy="381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62000" y="2288827"/>
            <a:ext cx="2514600" cy="285750"/>
          </a:xfrm>
          <a:prstGeom prst="roundRect">
            <a:avLst>
              <a:gd fmla="val 13333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803177"/>
            <a:ext cx="1143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NORMA EURO 7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3563242"/>
            <a:ext cx="7905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Impactos, desafios e a transformação radical no controle de emissões e sustentabilidade veicular.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2345977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REGULAMENTAÇÃO EUROPEIA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90900" y="2345977"/>
            <a:ext cx="2417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Setor Automotivo 2026–203</a:t>
            </a:r>
            <a:r>
              <a:rPr b="1" lang="en-US" sz="105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690" y="6005302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Alexsandro Rodrigues da Silva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5972175" y="2686050"/>
            <a:ext cx="5610225" cy="245745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609600" y="2659558"/>
            <a:ext cx="4981575" cy="11599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09600" y="4010025"/>
            <a:ext cx="4981575" cy="11599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609600" y="2659558"/>
            <a:ext cx="38100" cy="115996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09600" y="4010025"/>
            <a:ext cx="38100" cy="115996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286500" y="30003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286500" y="36861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286500" y="4371975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PANORAMA GERAL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Cronograma e Unificação Regulatória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76300" y="2888158"/>
            <a:ext cx="58882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Regulamento Unificado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76300" y="3164383"/>
            <a:ext cx="458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Substituição das antigas diretrizes separadas para veículos leves  e pesados por um padrão único.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76300" y="4238625"/>
            <a:ext cx="58882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Foco em Vida Útil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76300" y="4514850"/>
            <a:ext cx="45816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Exigência de conformidade estendida para até 200.000 km ou 10 anos de operação do veículo.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143625" y="3000375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2024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143625" y="3686175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2026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143625" y="4371975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2028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96100" y="3028950"/>
            <a:ext cx="387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Aprovação Final - 24 de </a:t>
            </a:r>
            <a:r>
              <a:rPr b="1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Abril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896100" y="3248025"/>
            <a:ext cx="3690937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Publicação do Regulamento UE 2024/1257.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896100" y="3714750"/>
            <a:ext cx="433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Veículos Leves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896100" y="3933825"/>
            <a:ext cx="4131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Aplicação para novos modelos de carros e vans.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6896100" y="4400550"/>
            <a:ext cx="39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Veículos Pesados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896100" y="4619625"/>
            <a:ext cx="377428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Exigências ativas para caminhões e ônibus.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09600" y="3481387"/>
            <a:ext cx="5248275" cy="80010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9600" y="4471987"/>
            <a:ext cx="5248275" cy="800100"/>
          </a:xfrm>
          <a:prstGeom prst="roundRect">
            <a:avLst>
              <a:gd fmla="val 952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075" y="2085975"/>
            <a:ext cx="52673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95500"/>
            <a:ext cx="52482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72903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719637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NOVA FRONTEIRA ECOLÓGICA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Regulamentação de Freios e Pneus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9600" y="2519362"/>
            <a:ext cx="53435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Pela primeira vez na história, a legislação inclui limites para resíduos de atrito mecânico, tornando a norma aplicável inclusive a veículos 100% elétricos.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304925" y="3681412"/>
            <a:ext cx="450056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Partículas de Freio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1304925" y="3900487"/>
            <a:ext cx="4286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Limite rigoroso de 3 mg/km a 7 mg/km por veículo.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1304925" y="4672012"/>
            <a:ext cx="55381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Abrasão de Pneus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304925" y="4891087"/>
            <a:ext cx="527446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Controle direcionado para mitigar emissão de microplásticos.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RESUMO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NORMAS 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ANTERIORES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 5 e 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endParaRPr/>
          </a:p>
        </p:txBody>
      </p:sp>
      <p:graphicFrame>
        <p:nvGraphicFramePr>
          <p:cNvPr id="141" name="Google Shape;141;p16"/>
          <p:cNvGraphicFramePr/>
          <p:nvPr/>
        </p:nvGraphicFramePr>
        <p:xfrm>
          <a:off x="465551" y="36185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1466100"/>
                <a:gridCol w="1101650"/>
                <a:gridCol w="1192750"/>
                <a:gridCol w="1250725"/>
              </a:tblGrid>
              <a:tr h="678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Parâmetro de Emissão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5 (</a:t>
                      </a:r>
                      <a:r>
                        <a:rPr b="1" lang="en-US" sz="1000">
                          <a:solidFill>
                            <a:schemeClr val="dk1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Proconve</a:t>
                      </a: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P7)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6 (Proconve P8)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Redução Aplicada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7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Óxidos de Nitrogênio (NO</a:t>
                      </a:r>
                      <a:r>
                        <a:rPr baseline="-25000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2,0 g/kWh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0,4 g/kWh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80%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Material Particulado (PM)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0,02 g/kWh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0,01 g/kWh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50%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Contagem de Partículas (PN)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Sem regulamentação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 x 10</a:t>
                      </a:r>
                      <a:r>
                        <a:rPr baseline="30000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partc/kWh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Restrição total a partículas finas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Hidrocarbonetos (HC)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0,46 g/kWh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0,13 g/kWh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~70%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2" name="Google Shape;142;p16"/>
          <p:cNvGraphicFramePr/>
          <p:nvPr/>
        </p:nvGraphicFramePr>
        <p:xfrm>
          <a:off x="5894549" y="7386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1395775"/>
                <a:gridCol w="1821425"/>
                <a:gridCol w="2583650"/>
              </a:tblGrid>
              <a:tr h="535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Componente / Sistema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5 (Proconve P7)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6 (Proconve P8)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1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Filtro de Partículas (DPF)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Geralmente ausente em caminhões pesados (usava-se apenas SCR).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Obrigatório. Retém até 98% da fuligem/particulados. Exige regeneração ativa/passiva.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Injeção de Combustível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Common Rail ou Unidades Injetoras (1.800 a 2.000 bar).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Common Rail de altíssima pressão (2.500+ bar) com múltiplas injeções por ciclo.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1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Pós-Tratamento (Gases)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 SCR isolado (Injeção de ARLA 32 para controle de NO</a:t>
                      </a:r>
                      <a:r>
                        <a:rPr baseline="-25000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 Combinado: DOC (Catalisador de Oxidação) + DPF + SCR + ASC (Ammonia Slip Catalyst).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Recirculação de Gases (EGR)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Usado pontualmente por algumas montadoras.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Amplamente combinado com o SCR para reduzir a geração primária de NO</a:t>
                      </a:r>
                      <a:r>
                        <a:rPr baseline="-25000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no cilindro.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4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Sensores Eletrônicos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Sensores básicos de temperatura de escape e pressão de ARLA 32.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Múltiplos sensores de NO</a:t>
                      </a:r>
                      <a:r>
                        <a:rPr baseline="-25000"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(antes e depois do catalisador), sensores de fuligem/particulados e de pressão diferencial.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6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Combustível e Óleo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Diesel S10 (recomendado) ou S50. Óleo CI-4 / CJ-4.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Exclusivo Diesel S10. Exige óleo lubrificante Low SAPS (ex: CK-4) para não entupir o DPF.</a:t>
                      </a:r>
                      <a:endParaRPr sz="10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" name="Google Shape;143;p16"/>
          <p:cNvSpPr txBox="1"/>
          <p:nvPr/>
        </p:nvSpPr>
        <p:spPr>
          <a:xfrm>
            <a:off x="5904175" y="243036"/>
            <a:ext cx="58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Principais Diferenças Técnicas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57200" y="3108657"/>
            <a:ext cx="501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Comparativo Técnico De Limites De Emissões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NORMAS 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BRASILEIRAS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PROCONVE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10684" y="1811602"/>
            <a:ext cx="107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Histórico Das Fases Para Veículos Leves (L)</a:t>
            </a:r>
            <a:endParaRPr sz="1200"/>
          </a:p>
        </p:txBody>
      </p:sp>
      <p:graphicFrame>
        <p:nvGraphicFramePr>
          <p:cNvPr id="152" name="Google Shape;152;p17"/>
          <p:cNvGraphicFramePr/>
          <p:nvPr/>
        </p:nvGraphicFramePr>
        <p:xfrm>
          <a:off x="705464" y="2301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{6B4C4972-7BCF-4566-8FF1-6315AE087F8A}</a:tableStyleId>
              </a:tblPr>
              <a:tblGrid>
                <a:gridCol w="1642150"/>
                <a:gridCol w="2271850"/>
                <a:gridCol w="1481650"/>
                <a:gridCol w="5321550"/>
              </a:tblGrid>
              <a:tr h="527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Proconve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Equivalência Europeia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Ano de Início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Principais Tecnologias Introduzidas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L1 e L2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1 e 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1988 – 1992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Padronização de medições, pequenas reduções de monóxido de carbono (CO) e troca gradual dos 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carburadores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L3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3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1997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Catalisadores de três vias e sistemas de injeção eletrônica multiponto para reduzir CO, NO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hidrocarbonetos (HC).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L4 e L5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4 e 5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2005 a 2009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Endureceram substancialmente os limites de NO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HC, acompanhados pela melhoria da qualidade da gasolina nacional.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L6 e L7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6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Metas de emissões evaporativas do tanque de combustível muito mais rígidas (máximo de 0,5g/dia) e medição em condições reais de tráfego.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59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L8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7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2025 a 2031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Mudança para o modelo corporativo. Exige uso masivo de filtros de partículas em motores flex/gasolina (GPF) e eletrificação parcial (sistemas híbridos leves e plenos).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b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" name="Google Shape;153;p17"/>
          <p:cNvSpPr txBox="1"/>
          <p:nvPr/>
        </p:nvSpPr>
        <p:spPr>
          <a:xfrm>
            <a:off x="533047" y="1132980"/>
            <a:ext cx="108768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Programa de Controle da Poluição do Ar por Veículos Automotores (PROCONVE) foi instituído no Brasil em 1986 pelo Conselho Nacional do Meio Ambiente (CONAMA) e é coordenado pelo IBAMA.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NORMAS 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BRASILEIRAS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PROCONVE</a:t>
            </a:r>
            <a:endParaRPr/>
          </a:p>
        </p:txBody>
      </p:sp>
      <p:graphicFrame>
        <p:nvGraphicFramePr>
          <p:cNvPr id="160" name="Google Shape;160;p18"/>
          <p:cNvGraphicFramePr/>
          <p:nvPr/>
        </p:nvGraphicFramePr>
        <p:xfrm>
          <a:off x="705464" y="23014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1883750"/>
                <a:gridCol w="2395850"/>
                <a:gridCol w="1737450"/>
                <a:gridCol w="4700225"/>
              </a:tblGrid>
              <a:tr h="69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Fase Proconve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Equivalência Europeia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Ano de Início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Principais Tecnologias Introduzidas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P1 a P4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1 e 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1990 – 2000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Motores turbinados, intercooler e injeção mecânica otimizada.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P5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3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2004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Sistemas de injeção eletrônica Common Rail e unidade injetora.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P7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5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2012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Pulo da fase P6 devido à indisponibilidade de diesel com baixo enxofre. Introduziu o Arla 32 (SCR) e recirculação de gases (EGR).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P8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6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2023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Redução drástica de NO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(80%) e material particulado (50%). Tornou obrigatório o uso conjunto de filtros DPF, catalisadores SCR e sistemas de telemetria de emissões no painel (OBD).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8"/>
          <p:cNvSpPr txBox="1"/>
          <p:nvPr/>
        </p:nvSpPr>
        <p:spPr>
          <a:xfrm>
            <a:off x="610684" y="1811602"/>
            <a:ext cx="1071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Histórico Das Fases Para Veículos Pesados (P)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NORMAS 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BRASILEIRAS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PROCONVE / PROMOT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00473" y="1532775"/>
            <a:ext cx="10827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Promot (Motocicletas)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Paralelamente ao Proconve, criou-se em 2002 o Promot (Programa de Controle da Poluição do Ar por Motocicletas e Veículos Similares), que segue fases análogas (Promot 1 a Promot 5), forçando a transição do carburador para a injeção eletrônica e a inclusão de catalisadores nas saídas de escapamento de motocicletas.</a:t>
            </a:r>
            <a:endParaRPr sz="1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/>
          <p:nvPr/>
        </p:nvSpPr>
        <p:spPr>
          <a:xfrm>
            <a:off x="609600" y="2476500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210300" y="2476500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609600" y="4010025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210300" y="4010025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3592" y="2757487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6525" y="27574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29101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6525" y="42910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DA NORMA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Quatro Pilares d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Euro 7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885825" y="3298581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Medição estendida para contagem de partículas a partir de 10 nanômetros (PN</a:t>
            </a:r>
            <a:r>
              <a:rPr b="0" baseline="-2500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óxido nitroso (N</a:t>
            </a:r>
            <a:r>
              <a:rPr baseline="-25000" lang="en-US" sz="120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120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O)  e  o amônio (NH</a:t>
            </a:r>
            <a:r>
              <a:rPr baseline="-25000" lang="en-US" sz="120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r>
              <a:rPr lang="en-US" sz="1200">
                <a:solidFill>
                  <a:srgbClr val="66666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endParaRPr>
              <a:solidFill>
                <a:srgbClr val="66666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486525" y="3105150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Teto padrão de resíduos gerados por pastilhas de freio e rodagem de pneus.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85825" y="4638675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Requisitos mínimos obrigatórios de capacidade para veículos elétricos e híbridos.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486525" y="4638675"/>
            <a:ext cx="491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Sensores digitais embarcados para controle contínuo de emissões reais.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266825" y="2752725"/>
            <a:ext cx="4627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Condições Reais de Condução e Poluentes não Regulamentados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924675" y="2752725"/>
            <a:ext cx="2812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Atrito de Componentes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1295400" y="4286250"/>
            <a:ext cx="283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Durabilidade de Bateria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867525" y="4286250"/>
            <a:ext cx="4407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Monitoramento OBM (</a:t>
            </a:r>
            <a:r>
              <a:rPr b="1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On-Board Monitoring</a:t>
            </a: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</a:t>
            </a:r>
            <a:endParaRPr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609600" y="2476500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210300" y="2476500"/>
            <a:ext cx="5372100" cy="33687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DA NORMA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Quatro Pilares d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Euro 7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59651" y="2673473"/>
            <a:ext cx="5117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Condições Reais de Condução e Poluentes não Regulamentados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6486525" y="2752725"/>
            <a:ext cx="49149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Euro 7 endurece os testes sob condições reais de direção (RDE - Real Driving Emissions). Em vez de medir emissões apenas em laboratórios ou trajetos ideais, os testes passam a incluir: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Temperaturas extremas (frio ou calor rigoroso).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Trajetos curtos e frequentes em áreas urbanas (onde o motor frio, &lt; 250º,  emite significativamente mais poluentes - 80%).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Inclusão de poluentes que antes não eram estritamente controlados, como o óxido nitroso (N</a:t>
            </a:r>
            <a:r>
              <a:rPr baseline="-25000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O), o amônio (NH</a:t>
            </a:r>
            <a:r>
              <a:rPr baseline="-25000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e partículas ainda menores (PN</a:t>
            </a:r>
            <a:r>
              <a:rPr baseline="-25000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</a:t>
            </a: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~ 10 micrômetros - um glóbulo vermelho do sangue mede aproximadamente 7 a 8 micrômetros).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291" y="2907564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609600" y="2476500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6210300" y="2476500"/>
            <a:ext cx="5372100" cy="33687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486525" y="2752725"/>
            <a:ext cx="4914900" cy="27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Historicamente, as normas Euro (1 a 6) focaram exclusivamente nos gases expelidos pelo tubo de escape (como NO</a:t>
            </a:r>
            <a:r>
              <a:rPr baseline="-25000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</a:t>
            </a: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monóxido de carbono e fuligem). No entanto, estudos mostraram que com a evolução dos motores modernos, a maior parte das partículas finas do trânsito urbano já não vem do motor, mas sim do desgaste de freios e pneus.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Pela primeira vez na história, o Euro 7 estabelece limites de emissão de partículas para freios e microplásticos liberados pelo desgaste dos pneus.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Isso afeta todos os veículos, inclusive os elétricos (VEs), que antes eram isentos de limites de emissões.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DA NORMA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Quatro Pilares d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Euro 7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752475" y="2752475"/>
            <a:ext cx="5113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Atrito de Componentes</a:t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3846" y="2968806"/>
            <a:ext cx="28575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/>
          <p:nvPr/>
        </p:nvSpPr>
        <p:spPr>
          <a:xfrm>
            <a:off x="609600" y="2476500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6210300" y="2476500"/>
            <a:ext cx="5372100" cy="33687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6486525" y="2752725"/>
            <a:ext cx="49149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Euro 7 exige o uso de sistemas avançados de monitoramento a bordo (OBM - On-Board Monitoring). O próprio veículo passa a monitorar continuamente o seu nível de emissões usando sensores integrados.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 o sistema de tratamento de gases falhar ou for adulterado, o veículo sinaliza o problema e pode exigir reparos imediatos para continuar rodando.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DA NORMA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Quatro Pilares d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Euro 7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748100" y="2749484"/>
            <a:ext cx="5111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Monitoramento OBM</a:t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23" name="Google Shape;22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514" y="2974383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4"/>
          <p:cNvSpPr/>
          <p:nvPr/>
        </p:nvSpPr>
        <p:spPr>
          <a:xfrm>
            <a:off x="609600" y="2476500"/>
            <a:ext cx="5372100" cy="13050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/>
          <p:nvPr/>
        </p:nvSpPr>
        <p:spPr>
          <a:xfrm>
            <a:off x="6210300" y="2476500"/>
            <a:ext cx="5372100" cy="3368700"/>
          </a:xfrm>
          <a:prstGeom prst="roundRect">
            <a:avLst>
              <a:gd fmla="val 875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6486525" y="2752725"/>
            <a:ext cx="49149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regras anteriores exigiam que os sistemas de controle de emissões funcionassem perfeitamente até cerca de 100.000 km ou 5 anos. O Euro 7 amplia essas exigências para garantir a qualidade dos veículos ao longo de quase toda a sua vida útil (200.000 km ou 10 anos).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Além disso, para acelerar a transição ecológica com confiança, o Euro 7 introduz requisitos mínimos de durabilidade para as baterias de carros elétricos e híbridos: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 baterias devem reter pelo menos 80% da sua capacidade após 5 anos ou 100.000 km.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us Jakarta Sans"/>
              <a:buChar char="●"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Devem manter pelo menos 72% após 8 anos ou 160.000 km.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DA NORMA</a:t>
            </a:r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Os Quatro Pilares d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Euro 7</a:t>
            </a:r>
            <a:endParaRPr/>
          </a:p>
        </p:txBody>
      </p:sp>
      <p:sp>
        <p:nvSpPr>
          <p:cNvPr id="233" name="Google Shape;233;p24"/>
          <p:cNvSpPr txBox="1"/>
          <p:nvPr/>
        </p:nvSpPr>
        <p:spPr>
          <a:xfrm>
            <a:off x="750275" y="2756143"/>
            <a:ext cx="5091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Durabilidade de Bateria</a:t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3001" y="2974383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609600" y="2290762"/>
            <a:ext cx="5248275" cy="828675"/>
          </a:xfrm>
          <a:prstGeom prst="roundRect">
            <a:avLst>
              <a:gd fmla="val 919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609600" y="3309937"/>
            <a:ext cx="5248275" cy="1000125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609600" y="4500562"/>
            <a:ext cx="5248275" cy="1000125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609600" y="2290762"/>
            <a:ext cx="38100" cy="82867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609600" y="3309937"/>
            <a:ext cx="38100" cy="10001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609600" y="4500562"/>
            <a:ext cx="38100" cy="10001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5" name="Google Shape;2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5075" y="2085975"/>
            <a:ext cx="52673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2095500"/>
            <a:ext cx="524827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SETOR DE TRANSPORTE COMERCIAL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em Caminhões e Ônibus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838200" y="2481262"/>
            <a:ext cx="63382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Novos Gases Regulados</a:t>
            </a:r>
            <a:endParaRPr/>
          </a:p>
        </p:txBody>
      </p:sp>
      <p:sp>
        <p:nvSpPr>
          <p:cNvPr id="250" name="Google Shape;250;p25"/>
          <p:cNvSpPr txBox="1"/>
          <p:nvPr/>
        </p:nvSpPr>
        <p:spPr>
          <a:xfrm>
            <a:off x="838200" y="2738437"/>
            <a:ext cx="60366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Inclusão formal do Óxido Nitroso (N</a:t>
            </a:r>
            <a:r>
              <a:rPr baseline="-25000" lang="en-US" sz="1125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O) no cálculo total de poluição.</a:t>
            </a:r>
            <a:endParaRPr/>
          </a:p>
        </p:txBody>
      </p:sp>
      <p:sp>
        <p:nvSpPr>
          <p:cNvPr id="251" name="Google Shape;251;p25"/>
          <p:cNvSpPr txBox="1"/>
          <p:nvPr/>
        </p:nvSpPr>
        <p:spPr>
          <a:xfrm>
            <a:off x="838200" y="3500437"/>
            <a:ext cx="63382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Testes em Partida a Frio e Quente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838200" y="3757612"/>
            <a:ext cx="4924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Avaliação independente para garantir eficácia imediata do pós-tratamento.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838200" y="4691062"/>
            <a:ext cx="633829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Testes do Veículo Completo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838200" y="4948237"/>
            <a:ext cx="4924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Transição da medição isolada do motor para o conjunto rodoviário montado.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6334125" y="3648075"/>
            <a:ext cx="2528887" cy="1495425"/>
          </a:xfrm>
          <a:prstGeom prst="roundRect">
            <a:avLst>
              <a:gd fmla="val 636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9053512" y="3648075"/>
            <a:ext cx="2528887" cy="1495425"/>
          </a:xfrm>
          <a:prstGeom prst="roundRect">
            <a:avLst>
              <a:gd fmla="val 6369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VEÍCULOS ELÉTRICOS E HÍBRIDOS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Métricas Mínimas de Saúde da Bateria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6334125" y="2647950"/>
            <a:ext cx="53435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norma estabelece metas legais de retenção de capacidade energética para proteger o consumidor e garantir a eficiência ambiental duradoura.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6562725" y="3876675"/>
            <a:ext cx="2166937" cy="1038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80%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9282112" y="3876675"/>
            <a:ext cx="216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7</a:t>
            </a:r>
            <a:r>
              <a:rPr b="1" lang="en-US" sz="33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r>
              <a:rPr b="1" i="0" lang="en-US" sz="3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%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6572250" y="4381500"/>
            <a:ext cx="256579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Capacidade mínima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6572250" y="4562475"/>
            <a:ext cx="21478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Até 5 anos ou 100.000 km rodados.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9291637" y="4381500"/>
            <a:ext cx="256579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Capacidade mínima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9291637" y="4562475"/>
            <a:ext cx="214788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Até 8 anos ou 160.000 km rodados.</a:t>
            </a:r>
            <a:endParaRPr/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10354" l="0" r="0" t="0"/>
          <a:stretch/>
        </p:blipFill>
        <p:spPr>
          <a:xfrm>
            <a:off x="653502" y="2166567"/>
            <a:ext cx="5498550" cy="356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85975"/>
            <a:ext cx="526732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095500"/>
            <a:ext cx="5248275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6623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21481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767262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COMPLIANCE EM TEMPO REAL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Monitoramento On-Board (OBM) e RDE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6334125" y="2662237"/>
            <a:ext cx="534352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conformidade deixa de ser restrita ao ambiente controlado de laboratório, sendo auditada constantemente durante o uso real nas estradas.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6581775" y="3624262"/>
            <a:ext cx="5095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Sensores Permanentes: Registro contínuo de dados de emissões gasosas e material particulado.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6581775" y="4176712"/>
            <a:ext cx="5095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Anti-Adulteração: Bloqueios por hardware e software contra dispositivos de fraude (defeat devices).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6581775" y="4729162"/>
            <a:ext cx="50958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Auditoria Remota: Capacidade de fiscalização digital por órgãos reguladores do trânsito.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/>
          <p:nvPr/>
        </p:nvSpPr>
        <p:spPr>
          <a:xfrm>
            <a:off x="609600" y="2723257"/>
            <a:ext cx="3505200" cy="2344787"/>
          </a:xfrm>
          <a:prstGeom prst="roundRect">
            <a:avLst>
              <a:gd fmla="val 4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8"/>
          <p:cNvSpPr/>
          <p:nvPr/>
        </p:nvSpPr>
        <p:spPr>
          <a:xfrm>
            <a:off x="4343400" y="2723257"/>
            <a:ext cx="3505200" cy="2344787"/>
          </a:xfrm>
          <a:prstGeom prst="roundRect">
            <a:avLst>
              <a:gd fmla="val 4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8"/>
          <p:cNvSpPr/>
          <p:nvPr/>
        </p:nvSpPr>
        <p:spPr>
          <a:xfrm>
            <a:off x="8077200" y="2723257"/>
            <a:ext cx="3505200" cy="2344787"/>
          </a:xfrm>
          <a:prstGeom prst="roundRect">
            <a:avLst>
              <a:gd fmla="val 4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3" name="Google Shape;29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303758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03758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3037582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837" y="3189982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7" name="Google Shape;297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3925" y="3189982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2012" y="3189982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ENGENHARIA DE SOLUÇÕES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Tecnologias de Adequação Industrial - Freios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" name="Google Shape;301;p28"/>
          <p:cNvSpPr txBox="1"/>
          <p:nvPr/>
        </p:nvSpPr>
        <p:spPr>
          <a:xfrm>
            <a:off x="847725" y="3761482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Revestimento Laser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847725" y="4113907"/>
            <a:ext cx="31242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Aplicação de camada protetora nos discos de freio reduzindo o desgaste mecânico em até 90%.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4581525" y="3761482"/>
            <a:ext cx="3975496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Filtros de Coleta de Pó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4581525" y="4113907"/>
            <a:ext cx="312420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Dispositivos acoplados às pinças para retenção imediata das partículas residuais de fricção.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8315325" y="3761482"/>
            <a:ext cx="387667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Compostos de Fricção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8315325" y="4113907"/>
            <a:ext cx="31242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Novas formulações sintéticas sem metais pesados para pastilhas ecológicas de alto desempenho.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ENGENHARIA DE SOLUÇÕES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Tecnologias de Adequação Industrial - Freios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13" name="Google Shape;313;p29"/>
          <p:cNvGraphicFramePr/>
          <p:nvPr/>
        </p:nvGraphicFramePr>
        <p:xfrm>
          <a:off x="705452" y="210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{6B4C4972-7BCF-4566-8FF1-6315AE087F8A}</a:tableStyleId>
              </a:tblPr>
              <a:tblGrid>
                <a:gridCol w="2713800"/>
                <a:gridCol w="3754400"/>
                <a:gridCol w="3815625"/>
              </a:tblGrid>
              <a:tr h="571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Tipo de Pastilha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Composição / Princípio de Funcionamento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Papel na Norma Euro 7</a:t>
                      </a:r>
                      <a:endParaRPr b="1"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Compostos NAO (Non-Asbestos Organic)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Fibras sintéticas, cerâmicas, aramida, resinas térmicas e lubrificantes minerais.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Atuam por adesão (transferência de película química) em vez de abrasão física, gerando partículas maiores e em menor quantidade.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9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Pastilhas Cobre-Free (&lt;0,5%)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Eliminação do cobre e ligas pesadas, substituídos por grafite sintético e novos sulfetos minerais.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Atende aos limites ecológicos da União Europeia contra contaminação por metais pesados e microplásticos.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23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Pads de Baixo Aço (Low-Steel Euro 7)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Formulações com teores reduzidos de ferro e liga metálica pareados com discos revestidos.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Evitam a formação de poeira de ferro de alta densidade (PM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2.5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PM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 durante desacelerações bruscas.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/>
          <p:nvPr/>
        </p:nvSpPr>
        <p:spPr>
          <a:xfrm>
            <a:off x="609600" y="2233388"/>
            <a:ext cx="3505200" cy="3901200"/>
          </a:xfrm>
          <a:prstGeom prst="roundRect">
            <a:avLst>
              <a:gd fmla="val 4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0"/>
          <p:cNvSpPr/>
          <p:nvPr/>
        </p:nvSpPr>
        <p:spPr>
          <a:xfrm>
            <a:off x="4343400" y="2233405"/>
            <a:ext cx="3505200" cy="3901200"/>
          </a:xfrm>
          <a:prstGeom prst="roundRect">
            <a:avLst>
              <a:gd fmla="val 4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0"/>
          <p:cNvSpPr/>
          <p:nvPr/>
        </p:nvSpPr>
        <p:spPr>
          <a:xfrm>
            <a:off x="8077200" y="2233350"/>
            <a:ext cx="3505200" cy="3901200"/>
          </a:xfrm>
          <a:prstGeom prst="roundRect">
            <a:avLst>
              <a:gd fmla="val 48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21" name="Google Shape;32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25" y="2484518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2484523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5325" y="2500319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837" y="2636918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3925" y="2636918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82012" y="2636918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0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ENGENHARIA DE SOLUÇÕES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Tecnologias de Adequação Industrial - 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Pneus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847800" y="3050400"/>
            <a:ext cx="31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Química de Compostos Avançados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847725" y="3639852"/>
            <a:ext cx="3124200" cy="25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Borracha Funcionalizada com Sílica e Silanos (reduz a resistência ao rolamento e desprendimento de partículas).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Elastômeros Sintéticos de Alta Densidade (SSBR) (resistência às forças de cisalhamento em acelerações e frenagens fortes).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Resinas e Plastificantes Sustentáveis (como óleo de casca de Laranja ou óleo de girassol).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1" name="Google Shape;331;p30"/>
          <p:cNvSpPr txBox="1"/>
          <p:nvPr/>
        </p:nvSpPr>
        <p:spPr>
          <a:xfrm>
            <a:off x="4581525" y="3050392"/>
            <a:ext cx="31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Geometria da Banda de Rodagem e Área de Contato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4581525" y="3624050"/>
            <a:ext cx="3124200" cy="14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Desenho de Sulcos Otimizado por IA.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2.Blocos Interconectados e Lâminas 3D (Desenhos com travas internas mantêm a banda rígida durante acelerações, evitando a deformação dos blocos de borracha e reduzindo o atrito excessivo).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33" name="Google Shape;333;p30"/>
          <p:cNvSpPr txBox="1"/>
          <p:nvPr/>
        </p:nvSpPr>
        <p:spPr>
          <a:xfrm>
            <a:off x="8315325" y="3050397"/>
            <a:ext cx="312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Estrutura Interna e Redução de Massa</a:t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8315325" y="3639852"/>
            <a:ext cx="3124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Cintas de Aramida e Fibras Sintéticas.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2.Otimização para Veículos Elétricos (EVs).</a:t>
            </a:r>
            <a:endParaRPr sz="12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RESUMO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NORMAS 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Resumo - 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Euro</a:t>
            </a:r>
            <a:endParaRPr/>
          </a:p>
        </p:txBody>
      </p:sp>
      <p:graphicFrame>
        <p:nvGraphicFramePr>
          <p:cNvPr id="341" name="Google Shape;341;p31"/>
          <p:cNvGraphicFramePr/>
          <p:nvPr/>
        </p:nvGraphicFramePr>
        <p:xfrm>
          <a:off x="578294" y="19961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1893425"/>
                <a:gridCol w="1426925"/>
                <a:gridCol w="1356200"/>
                <a:gridCol w="2041725"/>
              </a:tblGrid>
              <a:tr h="5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Parâmetro / Poluente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5 (2009 / 2011)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6 (2014 / 2015)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7 (2026 / 2027)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r>
                        <a:rPr baseline="-25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(Diesel)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180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80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 mg/km (Equiparado à gasolina)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r>
                        <a:rPr baseline="-25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(Gasolina)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60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Material Particulado - MP (Escapamento)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5,0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4,5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4,5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3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Contagem de Partículas - PN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Exigido p/ alguns diesel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6,0 x 10</a:t>
                      </a:r>
                      <a:r>
                        <a:rPr baseline="30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</a:t>
                      </a: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part./km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6,0 x 10</a:t>
                      </a:r>
                      <a:r>
                        <a:rPr b="1" baseline="30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</a:t>
                      </a: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part./km (Medição expandida a 10 nm)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Poeira de Freio - PM</a:t>
                      </a:r>
                      <a:r>
                        <a:rPr baseline="-25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</a:t>
                      </a: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(Combustão)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regulado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regulado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7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Poeira de Freio - PM</a:t>
                      </a:r>
                      <a:r>
                        <a:rPr baseline="-25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10</a:t>
                      </a: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(100% Elétricos)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regulado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regulado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3 mg/km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9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Desgaste de Pneus (Abrasão)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regulado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regulado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Limites em 1.000 km/t (A partir de 2028)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2" name="Google Shape;342;p31"/>
          <p:cNvSpPr txBox="1"/>
          <p:nvPr/>
        </p:nvSpPr>
        <p:spPr>
          <a:xfrm>
            <a:off x="3661123" y="1225468"/>
            <a:ext cx="36354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Parâmetros e Limites de Emissão (Veículos Leves)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43" name="Google Shape;343;p31"/>
          <p:cNvGraphicFramePr/>
          <p:nvPr/>
        </p:nvGraphicFramePr>
        <p:xfrm>
          <a:off x="7633822" y="199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1117900"/>
                <a:gridCol w="822600"/>
                <a:gridCol w="1096800"/>
                <a:gridCol w="1110850"/>
              </a:tblGrid>
              <a:tr h="835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Poluente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5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6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Euro 7 (Pesados)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7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</a:t>
                      </a:r>
                      <a:r>
                        <a:rPr baseline="-25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endParaRPr baseline="-25000"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2,0 g/kWh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0,4 g/kWh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0,26 g/kWh</a:t>
                      </a:r>
                      <a:endParaRPr b="1"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(Redução adicional)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7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Material Particulado (MP)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0,02 g/kWh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0,01 g/kWh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0,01 g/kWh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7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Contagem de Partículas (PN)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Não aplicável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8,0 x 10</a:t>
                      </a:r>
                      <a:r>
                        <a:rPr baseline="30000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11</a:t>
                      </a:r>
                      <a:r>
                        <a:rPr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part./kWh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Medição a partir de 10 nm</a:t>
                      </a:r>
                      <a:endParaRPr sz="11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4" name="Google Shape;344;p31"/>
          <p:cNvSpPr txBox="1"/>
          <p:nvPr/>
        </p:nvSpPr>
        <p:spPr>
          <a:xfrm>
            <a:off x="7633850" y="1241420"/>
            <a:ext cx="41481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Parâmetros para Veículos Pesados (Caminhões e Ônibus)</a:t>
            </a:r>
            <a:endParaRPr sz="1200">
              <a:solidFill>
                <a:srgbClr val="434343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PRINCIPAL VILÃO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Tendência da 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Participação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 Diesel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51" name="Google Shape;351;p32" title="Gemini_Generated_Image_hr2nixhr2nixhr2n.jpeg"/>
          <p:cNvPicPr preferRelativeResize="0"/>
          <p:nvPr/>
        </p:nvPicPr>
        <p:blipFill rotWithShape="1">
          <a:blip r:embed="rId3">
            <a:alphaModFix/>
          </a:blip>
          <a:srcRect b="0" l="3073" r="0" t="11871"/>
          <a:stretch/>
        </p:blipFill>
        <p:spPr>
          <a:xfrm>
            <a:off x="698450" y="1444300"/>
            <a:ext cx="10302801" cy="508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3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SUBSTITUTOS VIÁVEIS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Potenciais Tecnologias Substitutivas ao Diesel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58" name="Google Shape;358;p33"/>
          <p:cNvGraphicFramePr/>
          <p:nvPr/>
        </p:nvGraphicFramePr>
        <p:xfrm>
          <a:off x="658059" y="15113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2744250"/>
                <a:gridCol w="4459400"/>
                <a:gridCol w="3466400"/>
              </a:tblGrid>
              <a:tr h="37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Tecnologia Substituta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Como Elimina o Arla 32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Estágio de Adoção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Célula de Combustível a Hidrogênio (H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Reação entre hidrogênio e oxigênio gera apenas água (H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O). Sem combustão, sem NO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 testes e operação em frotas pesadas de longa distância.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97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Motores a Biometano / GNV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 queima do gás natural/biometano gera drasticamente menos NO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 fuligem, dispensando o Arla 32 em muitos modelos.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Em ampla expansão comercial (caminhões e ônibus urbanos).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1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Eletrificação Total (Baterias)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Zero emissões locais de qualquer poluente.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Consolidado em veículos leves e ônibus urbanos; em desenvolvimento para transporte pesado.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" name="Google Shape;359;p33"/>
          <p:cNvSpPr txBox="1"/>
          <p:nvPr/>
        </p:nvSpPr>
        <p:spPr>
          <a:xfrm>
            <a:off x="673822" y="4545300"/>
            <a:ext cx="10670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Síntese do Cenário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Padrão Obrigatório para Frota a Diesel		&gt;&gt;&gt; 	SCR Duplo (Aprimoramento do Arla 32)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Curto / Médio Prazo (Escala </a:t>
            </a: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Comercial</a:t>
            </a: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	&gt;&gt;&gt; 	Biometano / Gás Natural</a:t>
            </a:r>
            <a:endParaRPr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Longo Prazo (Transformação Definitiva)	&gt;&gt;&gt;	Elétrico a Bateria e Hidrogênio</a:t>
            </a:r>
            <a:endParaRPr sz="1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SUBSTITUTOS VIÁVEIS</a:t>
            </a:r>
            <a:endParaRPr/>
          </a:p>
        </p:txBody>
      </p:sp>
      <p:sp>
        <p:nvSpPr>
          <p:cNvPr id="365" name="Google Shape;365;p34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Potenciais Tecnologias Substitutivas ao Diesel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aphicFrame>
        <p:nvGraphicFramePr>
          <p:cNvPr id="366" name="Google Shape;366;p34"/>
          <p:cNvGraphicFramePr/>
          <p:nvPr/>
        </p:nvGraphicFramePr>
        <p:xfrm>
          <a:off x="609575" y="18711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{2C2BCE32-0481-4BB9-BE36-7958EF8BE1B0}</a:tableStyleId>
              </a:tblPr>
              <a:tblGrid>
                <a:gridCol w="3163600"/>
                <a:gridCol w="2280725"/>
                <a:gridCol w="2740550"/>
                <a:gridCol w="2630200"/>
              </a:tblGrid>
              <a:tr h="742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Poluente / Emissão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Diesel com Arla 32 (SCR + DPF)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Gás Natural (GNV)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Biometano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Material Particulado (Fuligem/PM)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Baixo (retido em até 95% pelo filtro DPF)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Praticamente Zero (-95% a -99% que o diesel)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Praticamente Zero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Óxidos de Nitrogênio (NO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X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Baixo (reduzido em até 90% pelo Arla 32)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Muito Baixo (-80% a -90% que o diesel SCR)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Muito Baixo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Dióxido de Carbono (CO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) no escapamento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Referência (100%)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-15% a -20% em relação ao diesel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-15% a -20% no escapamento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2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</a:t>
                      </a:r>
                      <a:r>
                        <a:rPr baseline="-25000"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</a:t>
                      </a: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 Equivalente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Referência (100%)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-15% a -20% em todo o ciclo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Até -90% a -95% (neutro em carbono)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4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Ruído e Vibração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Padrão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Até 50% mais silencioso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Até 50% mais silencioso</a:t>
                      </a:r>
                      <a:endParaRPr sz="1200">
                        <a:latin typeface="Plus Jakarta Sans"/>
                        <a:ea typeface="Plus Jakarta Sans"/>
                        <a:cs typeface="Plus Jakarta Sans"/>
                        <a:sym typeface="Plus Jakarta Sans"/>
                      </a:endParaRPr>
                    </a:p>
                  </a:txBody>
                  <a:tcPr marT="25400" marB="25400" marR="25400" marL="25400" anchor="ctr">
                    <a:lnL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7" name="Google Shape;367;p34"/>
          <p:cNvSpPr txBox="1"/>
          <p:nvPr/>
        </p:nvSpPr>
        <p:spPr>
          <a:xfrm>
            <a:off x="609525" y="1355585"/>
            <a:ext cx="1081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Plus Jakarta Sans"/>
                <a:ea typeface="Plus Jakarta Sans"/>
                <a:cs typeface="Plus Jakarta Sans"/>
                <a:sym typeface="Plus Jakarta Sans"/>
              </a:rPr>
              <a:t>Comparativo Direto De Emissões</a:t>
            </a:r>
            <a:endParaRPr sz="12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5"/>
          <p:cNvSpPr/>
          <p:nvPr/>
        </p:nvSpPr>
        <p:spPr>
          <a:xfrm>
            <a:off x="609600" y="2967037"/>
            <a:ext cx="3454500" cy="2009700"/>
          </a:xfrm>
          <a:prstGeom prst="roundRect">
            <a:avLst>
              <a:gd fmla="val 568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5"/>
          <p:cNvSpPr/>
          <p:nvPr/>
        </p:nvSpPr>
        <p:spPr>
          <a:xfrm>
            <a:off x="4368849" y="2967037"/>
            <a:ext cx="3454500" cy="2009700"/>
          </a:xfrm>
          <a:prstGeom prst="roundRect">
            <a:avLst>
              <a:gd fmla="val 568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5"/>
          <p:cNvSpPr/>
          <p:nvPr/>
        </p:nvSpPr>
        <p:spPr>
          <a:xfrm>
            <a:off x="8128099" y="2967037"/>
            <a:ext cx="3454500" cy="2009700"/>
          </a:xfrm>
          <a:prstGeom prst="roundRect">
            <a:avLst>
              <a:gd fmla="val 568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5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BENEFÍCIOS ESPERADOS</a:t>
            </a:r>
            <a:endParaRPr/>
          </a:p>
        </p:txBody>
      </p:sp>
      <p:sp>
        <p:nvSpPr>
          <p:cNvPr id="376" name="Google Shape;376;p35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Projeções de Redução e Economia até 203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</a:t>
            </a:r>
            <a:endParaRPr/>
          </a:p>
        </p:txBody>
      </p:sp>
      <p:sp>
        <p:nvSpPr>
          <p:cNvPr id="377" name="Google Shape;377;p35"/>
          <p:cNvSpPr txBox="1"/>
          <p:nvPr/>
        </p:nvSpPr>
        <p:spPr>
          <a:xfrm>
            <a:off x="330193" y="3271837"/>
            <a:ext cx="4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-56%</a:t>
            </a:r>
            <a:endParaRPr/>
          </a:p>
        </p:txBody>
      </p:sp>
      <p:sp>
        <p:nvSpPr>
          <p:cNvPr id="378" name="Google Shape;378;p35"/>
          <p:cNvSpPr txBox="1"/>
          <p:nvPr/>
        </p:nvSpPr>
        <p:spPr>
          <a:xfrm>
            <a:off x="4089443" y="3271837"/>
            <a:ext cx="4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-35%</a:t>
            </a:r>
            <a:endParaRPr/>
          </a:p>
        </p:txBody>
      </p:sp>
      <p:sp>
        <p:nvSpPr>
          <p:cNvPr id="379" name="Google Shape;379;p35"/>
          <p:cNvSpPr txBox="1"/>
          <p:nvPr/>
        </p:nvSpPr>
        <p:spPr>
          <a:xfrm>
            <a:off x="7848693" y="3271837"/>
            <a:ext cx="401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</a:t>
            </a:r>
            <a:r>
              <a:rPr b="1" i="0" lang="en-US" sz="4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€1</a:t>
            </a:r>
            <a:r>
              <a:rPr b="1" lang="en-US" sz="480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90</a:t>
            </a:r>
            <a:r>
              <a:rPr b="1" i="0" lang="en-US" sz="480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</a:t>
            </a:r>
            <a:endParaRPr/>
          </a:p>
        </p:txBody>
      </p:sp>
      <p:sp>
        <p:nvSpPr>
          <p:cNvPr id="380" name="Google Shape;380;p35"/>
          <p:cNvSpPr txBox="1"/>
          <p:nvPr/>
        </p:nvSpPr>
        <p:spPr>
          <a:xfrm>
            <a:off x="380200" y="4043362"/>
            <a:ext cx="391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Emissões de NO</a:t>
            </a:r>
            <a:r>
              <a:rPr b="1" baseline="-25000" lang="en-US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X</a:t>
            </a:r>
            <a:endParaRPr baseline="-25000"/>
          </a:p>
        </p:txBody>
      </p:sp>
      <p:sp>
        <p:nvSpPr>
          <p:cNvPr id="381" name="Google Shape;381;p35"/>
          <p:cNvSpPr txBox="1"/>
          <p:nvPr/>
        </p:nvSpPr>
        <p:spPr>
          <a:xfrm>
            <a:off x="380200" y="4300537"/>
            <a:ext cx="391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Redução esperada em caminhões e ônibus.</a:t>
            </a:r>
            <a:endParaRPr b="0" i="0" sz="112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(~4,2 milhões de toneladas)</a:t>
            </a:r>
            <a:endParaRPr sz="1125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2" name="Google Shape;382;p35"/>
          <p:cNvSpPr txBox="1"/>
          <p:nvPr/>
        </p:nvSpPr>
        <p:spPr>
          <a:xfrm>
            <a:off x="4139449" y="4043362"/>
            <a:ext cx="391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Partículas de Carros</a:t>
            </a:r>
            <a:endParaRPr/>
          </a:p>
        </p:txBody>
      </p:sp>
      <p:sp>
        <p:nvSpPr>
          <p:cNvPr id="383" name="Google Shape;383;p35"/>
          <p:cNvSpPr txBox="1"/>
          <p:nvPr/>
        </p:nvSpPr>
        <p:spPr>
          <a:xfrm>
            <a:off x="4139449" y="4300537"/>
            <a:ext cx="391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Queda no volume emitido por automóveis leves.</a:t>
            </a:r>
            <a:endParaRPr b="0" i="0" sz="112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(~19 mil toneladas)</a:t>
            </a:r>
            <a:endParaRPr sz="1125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4" name="Google Shape;384;p35"/>
          <p:cNvSpPr txBox="1"/>
          <p:nvPr/>
        </p:nvSpPr>
        <p:spPr>
          <a:xfrm>
            <a:off x="7898699" y="4043362"/>
            <a:ext cx="3913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Economia em Saúde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7898699" y="4300537"/>
            <a:ext cx="3913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Economia acumulada em saúde pública </a:t>
            </a:r>
            <a:endParaRPr b="0" i="0" sz="1125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(2025–2050).</a:t>
            </a:r>
            <a:endParaRPr sz="1125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/>
          <p:nvPr/>
        </p:nvSpPr>
        <p:spPr>
          <a:xfrm>
            <a:off x="609600" y="2871775"/>
            <a:ext cx="5334000" cy="2047800"/>
          </a:xfrm>
          <a:prstGeom prst="roundRect">
            <a:avLst>
              <a:gd fmla="val 618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6"/>
          <p:cNvSpPr/>
          <p:nvPr/>
        </p:nvSpPr>
        <p:spPr>
          <a:xfrm>
            <a:off x="6248400" y="2871787"/>
            <a:ext cx="5334000" cy="2047875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2" name="Google Shape;39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3290887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2725" y="31908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DESAFIOS ECONÔMICOS</a:t>
            </a:r>
            <a:endParaRPr/>
          </a:p>
        </p:txBody>
      </p:sp>
      <p:sp>
        <p:nvSpPr>
          <p:cNvPr id="395" name="Google Shape;395;p3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Impacto Financeiro na Cadeia do Setor</a:t>
            </a:r>
            <a:endParaRPr/>
          </a:p>
        </p:txBody>
      </p:sp>
      <p:sp>
        <p:nvSpPr>
          <p:cNvPr id="396" name="Google Shape;396;p36"/>
          <p:cNvSpPr txBox="1"/>
          <p:nvPr/>
        </p:nvSpPr>
        <p:spPr>
          <a:xfrm>
            <a:off x="1295400" y="3286125"/>
            <a:ext cx="2387798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as Montadoras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923925" y="3676650"/>
            <a:ext cx="5881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Investimentos substanciais em bancadas e testes de freio.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923925" y="3990975"/>
            <a:ext cx="5881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Adaptação de plataformas existentes para novos sensores.</a:t>
            </a:r>
            <a:endParaRPr/>
          </a:p>
        </p:txBody>
      </p:sp>
      <p:sp>
        <p:nvSpPr>
          <p:cNvPr id="399" name="Google Shape;399;p36"/>
          <p:cNvSpPr txBox="1"/>
          <p:nvPr/>
        </p:nvSpPr>
        <p:spPr>
          <a:xfrm>
            <a:off x="923925" y="4305300"/>
            <a:ext cx="5881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Elevação </a:t>
            </a:r>
            <a:r>
              <a:rPr lang="en-US" sz="12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adicional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do custo de produção por unidade veicular.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6962775" y="3186112"/>
            <a:ext cx="273784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Para Gestores de Frota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6562725" y="3576637"/>
            <a:ext cx="5629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Planejamento de renovação de ativos antecipado ao prazo.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6562725" y="3890962"/>
            <a:ext cx="562927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Reajuste de contratos de leasing e custos operacionais.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6562725" y="4205287"/>
            <a:ext cx="48006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• Transição para manutenção preditiva com base em dados OBM.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/>
          <p:nvPr/>
        </p:nvSpPr>
        <p:spPr>
          <a:xfrm>
            <a:off x="609600" y="3167062"/>
            <a:ext cx="2628900" cy="1609725"/>
          </a:xfrm>
          <a:prstGeom prst="roundRect">
            <a:avLst>
              <a:gd fmla="val 4733" name="adj"/>
            </a:avLst>
          </a:prstGeom>
          <a:solidFill>
            <a:srgbClr val="F8FAFC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7"/>
          <p:cNvSpPr/>
          <p:nvPr/>
        </p:nvSpPr>
        <p:spPr>
          <a:xfrm>
            <a:off x="609600" y="3167062"/>
            <a:ext cx="26289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7"/>
          <p:cNvSpPr/>
          <p:nvPr/>
        </p:nvSpPr>
        <p:spPr>
          <a:xfrm>
            <a:off x="3390900" y="3167062"/>
            <a:ext cx="2628900" cy="1609725"/>
          </a:xfrm>
          <a:prstGeom prst="roundRect">
            <a:avLst>
              <a:gd fmla="val 4733" name="adj"/>
            </a:avLst>
          </a:prstGeom>
          <a:solidFill>
            <a:srgbClr val="F8FAFC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7"/>
          <p:cNvSpPr/>
          <p:nvPr/>
        </p:nvSpPr>
        <p:spPr>
          <a:xfrm>
            <a:off x="3390900" y="316706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7"/>
          <p:cNvSpPr/>
          <p:nvPr/>
        </p:nvSpPr>
        <p:spPr>
          <a:xfrm>
            <a:off x="6172200" y="3167062"/>
            <a:ext cx="2628900" cy="1609725"/>
          </a:xfrm>
          <a:prstGeom prst="roundRect">
            <a:avLst>
              <a:gd fmla="val 4733" name="adj"/>
            </a:avLst>
          </a:prstGeom>
          <a:solidFill>
            <a:srgbClr val="F8FAFC"/>
          </a:solidFill>
          <a:ln cap="flat" cmpd="sng" w="38100">
            <a:solidFill>
              <a:srgbClr val="0284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7"/>
          <p:cNvSpPr/>
          <p:nvPr/>
        </p:nvSpPr>
        <p:spPr>
          <a:xfrm>
            <a:off x="6172200" y="3167062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7"/>
          <p:cNvSpPr/>
          <p:nvPr/>
        </p:nvSpPr>
        <p:spPr>
          <a:xfrm>
            <a:off x="8953500" y="3167062"/>
            <a:ext cx="2628900" cy="1609725"/>
          </a:xfrm>
          <a:prstGeom prst="roundRect">
            <a:avLst>
              <a:gd fmla="val 4733" name="adj"/>
            </a:avLst>
          </a:prstGeom>
          <a:solidFill>
            <a:srgbClr val="F8FAFC"/>
          </a:solidFill>
          <a:ln cap="flat" cmpd="sng" w="381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7"/>
          <p:cNvSpPr/>
          <p:nvPr/>
        </p:nvSpPr>
        <p:spPr>
          <a:xfrm>
            <a:off x="8953500" y="3167062"/>
            <a:ext cx="2628900" cy="381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PLANEJAMENTO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Roteiro Estratégico de Transição</a:t>
            </a:r>
            <a:endParaRPr/>
          </a:p>
        </p:txBody>
      </p:sp>
      <p:sp>
        <p:nvSpPr>
          <p:cNvPr id="418" name="Google Shape;418;p37"/>
          <p:cNvSpPr txBox="1"/>
          <p:nvPr/>
        </p:nvSpPr>
        <p:spPr>
          <a:xfrm>
            <a:off x="838200" y="3395662"/>
            <a:ext cx="22669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1</a:t>
            </a:r>
            <a:endParaRPr/>
          </a:p>
        </p:txBody>
      </p:sp>
      <p:sp>
        <p:nvSpPr>
          <p:cNvPr id="419" name="Google Shape;419;p37"/>
          <p:cNvSpPr txBox="1"/>
          <p:nvPr/>
        </p:nvSpPr>
        <p:spPr>
          <a:xfrm>
            <a:off x="3619500" y="3395662"/>
            <a:ext cx="22669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2</a:t>
            </a:r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6400800" y="3395662"/>
            <a:ext cx="22669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3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9182100" y="3395662"/>
            <a:ext cx="22669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 4</a:t>
            </a:r>
            <a:endParaRPr/>
          </a:p>
        </p:txBody>
      </p:sp>
      <p:sp>
        <p:nvSpPr>
          <p:cNvPr id="422" name="Google Shape;422;p37"/>
          <p:cNvSpPr txBox="1"/>
          <p:nvPr/>
        </p:nvSpPr>
        <p:spPr>
          <a:xfrm>
            <a:off x="838200" y="3709987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2024 – 2025</a:t>
            </a:r>
            <a:endParaRPr/>
          </a:p>
        </p:txBody>
      </p:sp>
      <p:sp>
        <p:nvSpPr>
          <p:cNvPr id="423" name="Google Shape;423;p37"/>
          <p:cNvSpPr txBox="1"/>
          <p:nvPr/>
        </p:nvSpPr>
        <p:spPr>
          <a:xfrm>
            <a:off x="838200" y="4005262"/>
            <a:ext cx="2266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Adequação de laboratórios e testes de fricção de freios.</a:t>
            </a:r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3619500" y="3709987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NOV 2026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3619500" y="4005262"/>
            <a:ext cx="2266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Conformidade obrigatória para novos modelos leves (M1/N1).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6400800" y="3709987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NOV 2027</a:t>
            </a:r>
            <a:endParaRPr/>
          </a:p>
        </p:txBody>
      </p:sp>
      <p:sp>
        <p:nvSpPr>
          <p:cNvPr id="427" name="Google Shape;427;p37"/>
          <p:cNvSpPr txBox="1"/>
          <p:nvPr/>
        </p:nvSpPr>
        <p:spPr>
          <a:xfrm>
            <a:off x="6400800" y="4005262"/>
            <a:ext cx="2266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Validade total para 100% dos veículos leves comercializados.</a:t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9182100" y="3709987"/>
            <a:ext cx="285035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2028 – 2029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9182100" y="4005262"/>
            <a:ext cx="22669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Entrada em vigor para o segmento de veículos pesados.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8"/>
          <p:cNvSpPr/>
          <p:nvPr/>
        </p:nvSpPr>
        <p:spPr>
          <a:xfrm>
            <a:off x="5457825" y="2064097"/>
            <a:ext cx="1276350" cy="285750"/>
          </a:xfrm>
          <a:prstGeom prst="roundRect">
            <a:avLst>
              <a:gd fmla="val 13333" name="adj"/>
            </a:avLst>
          </a:prstGeom>
          <a:solidFill>
            <a:srgbClr val="0C2D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8"/>
          <p:cNvSpPr/>
          <p:nvPr/>
        </p:nvSpPr>
        <p:spPr>
          <a:xfrm>
            <a:off x="5715000" y="4765327"/>
            <a:ext cx="762000" cy="28575"/>
          </a:xfrm>
          <a:prstGeom prst="roundRect">
            <a:avLst>
              <a:gd fmla="val 50000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8"/>
          <p:cNvSpPr txBox="1"/>
          <p:nvPr/>
        </p:nvSpPr>
        <p:spPr>
          <a:xfrm>
            <a:off x="5450681" y="2121247"/>
            <a:ext cx="12906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CONCLUSÃO</a:t>
            </a:r>
            <a:endParaRPr/>
          </a:p>
        </p:txBody>
      </p:sp>
      <p:sp>
        <p:nvSpPr>
          <p:cNvPr id="437" name="Google Shape;437;p38"/>
          <p:cNvSpPr txBox="1"/>
          <p:nvPr/>
        </p:nvSpPr>
        <p:spPr>
          <a:xfrm>
            <a:off x="720328" y="2578447"/>
            <a:ext cx="10751343" cy="100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Euro 7 como Catalisador da Mobilidade Limpa</a:t>
            </a:r>
            <a:endParaRPr/>
          </a:p>
        </p:txBody>
      </p:sp>
      <p:sp>
        <p:nvSpPr>
          <p:cNvPr id="438" name="Google Shape;438;p38"/>
          <p:cNvSpPr txBox="1"/>
          <p:nvPr/>
        </p:nvSpPr>
        <p:spPr>
          <a:xfrm>
            <a:off x="1809750" y="3812827"/>
            <a:ext cx="8572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Mais do que um obstáculo regulatório, a norma impulsiona a inovação tecnológica sustentável em toda a cadeia automotiva global.</a:t>
            </a:r>
            <a:endParaRPr/>
          </a:p>
        </p:txBody>
      </p:sp>
      <p:sp>
        <p:nvSpPr>
          <p:cNvPr id="439" name="Google Shape;439;p38"/>
          <p:cNvSpPr txBox="1"/>
          <p:nvPr/>
        </p:nvSpPr>
        <p:spPr>
          <a:xfrm>
            <a:off x="1819933" y="5418997"/>
            <a:ext cx="857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Alexsandro Rodrigues da Silva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4" name="Google Shape;44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290" y="249325"/>
            <a:ext cx="9543400" cy="6359349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9"/>
          <p:cNvSpPr txBox="1"/>
          <p:nvPr/>
        </p:nvSpPr>
        <p:spPr>
          <a:xfrm>
            <a:off x="1409512" y="353975"/>
            <a:ext cx="2070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Toyota Mirai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R$750.000,00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Estação de Hidrogênio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R$6.000.000,00</a:t>
            </a:r>
            <a:endParaRPr b="1" sz="1200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